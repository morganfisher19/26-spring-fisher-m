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Nuni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Nunito-italic.fntdata"/><Relationship Id="rId10" Type="http://schemas.openxmlformats.org/officeDocument/2006/relationships/font" Target="fonts/Nunito-bold.fntdata"/><Relationship Id="rId12" Type="http://schemas.openxmlformats.org/officeDocument/2006/relationships/font" Target="fonts/Nunito-boldItalic.fntdata"/><Relationship Id="rId9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855248a3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855248a3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extraction: Web scraping &amp; APIs using 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cleaning: clean using python &amp; medallion architecture - bronze raw xml/csv, silver raw json, gold clean json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querying: postgreSQL database stores clean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 backend: Python Flask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app frontend: React.js (w/ HTML &amp; CSS elements)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visualizations: D3.js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1f196184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1f196184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congress.gov" TargetMode="External"/><Relationship Id="rId4" Type="http://schemas.openxmlformats.org/officeDocument/2006/relationships/hyperlink" Target="http://senate.gov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773250" y="1659550"/>
            <a:ext cx="75975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Member Monitor </a:t>
            </a:r>
            <a:endParaRPr b="1"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Data Architecture</a:t>
            </a:r>
            <a:endParaRPr b="1" sz="480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Morgan Fisher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/>
          <p:nvPr/>
        </p:nvSpPr>
        <p:spPr>
          <a:xfrm>
            <a:off x="1174155" y="3738980"/>
            <a:ext cx="1086300" cy="10380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Nunito"/>
                <a:ea typeface="Nunito"/>
                <a:cs typeface="Nunito"/>
                <a:sym typeface="Nunito"/>
              </a:rPr>
              <a:t>Data extraction w/ Python &amp; APIs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98051" y="1389000"/>
            <a:ext cx="1890600" cy="15045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Websites: </a:t>
            </a:r>
            <a:r>
              <a:rPr b="1" lang="en" sz="12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3"/>
              </a:rPr>
              <a:t>Congress.gov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b="1" lang="en" sz="1200" u="sng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  <a:hlinkClick r:id="rId4"/>
              </a:rPr>
              <a:t>Senate.gov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, etc.</a:t>
            </a:r>
            <a:endParaRPr b="1"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7601550" y="142750"/>
            <a:ext cx="1485300" cy="10554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Web App</a:t>
            </a:r>
            <a:endParaRPr b="1"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6087875" y="2545950"/>
            <a:ext cx="1571400" cy="15045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Backend: 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Python Flask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4534159" y="3116850"/>
            <a:ext cx="1086300" cy="1055400"/>
          </a:xfrm>
          <a:prstGeom prst="ellipse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Data cleaning w/ Python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6030138" y="1344350"/>
            <a:ext cx="1571400" cy="1504500"/>
          </a:xfrm>
          <a:prstGeom prst="ellipse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Front end:</a:t>
            </a:r>
            <a:endParaRPr b="1" sz="12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React.js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7184100" y="1698750"/>
            <a:ext cx="1757700" cy="1746000"/>
          </a:xfrm>
          <a:prstGeom prst="ellipse">
            <a:avLst/>
          </a:prstGeom>
          <a:solidFill>
            <a:srgbClr val="B4A7D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Nunito"/>
                <a:ea typeface="Nunito"/>
                <a:cs typeface="Nunito"/>
                <a:sym typeface="Nunito"/>
              </a:rPr>
              <a:t>Visualizations: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(Plotly.js, D3.js or Chart.js)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1" name="Google Shape;141;p14"/>
          <p:cNvCxnSpPr>
            <a:stCxn id="136" idx="1"/>
          </p:cNvCxnSpPr>
          <p:nvPr/>
        </p:nvCxnSpPr>
        <p:spPr>
          <a:xfrm flipH="1">
            <a:off x="7041450" y="670450"/>
            <a:ext cx="560100" cy="676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" name="Google Shape;142;p14"/>
          <p:cNvCxnSpPr>
            <a:stCxn id="135" idx="2"/>
            <a:endCxn id="134" idx="1"/>
          </p:cNvCxnSpPr>
          <p:nvPr/>
        </p:nvCxnSpPr>
        <p:spPr>
          <a:xfrm>
            <a:off x="1043351" y="2893500"/>
            <a:ext cx="289800" cy="99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14"/>
          <p:cNvSpPr/>
          <p:nvPr/>
        </p:nvSpPr>
        <p:spPr>
          <a:xfrm>
            <a:off x="2405070" y="3859350"/>
            <a:ext cx="1848300" cy="1137300"/>
          </a:xfrm>
          <a:prstGeom prst="triangle">
            <a:avLst>
              <a:gd fmla="val 50000" name="adj"/>
            </a:avLst>
          </a:prstGeom>
          <a:solidFill>
            <a:srgbClr val="99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Reference data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2383907" y="3244500"/>
            <a:ext cx="1890600" cy="1038000"/>
          </a:xfrm>
          <a:prstGeom prst="triangle">
            <a:avLst>
              <a:gd fmla="val 50981" name="adj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Silver: raw JSON files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5" name="Google Shape;145;p14"/>
          <p:cNvCxnSpPr>
            <a:stCxn id="138" idx="1"/>
            <a:endCxn id="146" idx="5"/>
          </p:cNvCxnSpPr>
          <p:nvPr/>
        </p:nvCxnSpPr>
        <p:spPr>
          <a:xfrm rot="10800000">
            <a:off x="3811244" y="3001410"/>
            <a:ext cx="882000" cy="270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14"/>
          <p:cNvSpPr/>
          <p:nvPr/>
        </p:nvSpPr>
        <p:spPr>
          <a:xfrm>
            <a:off x="2383932" y="2482538"/>
            <a:ext cx="1890600" cy="1038000"/>
          </a:xfrm>
          <a:prstGeom prst="triangle">
            <a:avLst>
              <a:gd fmla="val 50981" name="adj"/>
            </a:avLst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Gold: clean JSON files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7" name="Google Shape;147;p14"/>
          <p:cNvCxnSpPr>
            <a:stCxn id="134" idx="7"/>
            <a:endCxn id="144" idx="1"/>
          </p:cNvCxnSpPr>
          <p:nvPr/>
        </p:nvCxnSpPr>
        <p:spPr>
          <a:xfrm flipH="1" rot="10800000">
            <a:off x="2101371" y="3763492"/>
            <a:ext cx="764400" cy="12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4"/>
          <p:cNvCxnSpPr>
            <a:stCxn id="144" idx="4"/>
            <a:endCxn id="138" idx="3"/>
          </p:cNvCxnSpPr>
          <p:nvPr/>
        </p:nvCxnSpPr>
        <p:spPr>
          <a:xfrm flipH="1" rot="10800000">
            <a:off x="4274507" y="4017600"/>
            <a:ext cx="418800" cy="26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14"/>
          <p:cNvSpPr/>
          <p:nvPr/>
        </p:nvSpPr>
        <p:spPr>
          <a:xfrm>
            <a:off x="4105598" y="1016800"/>
            <a:ext cx="1664400" cy="1222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Nunito"/>
                <a:ea typeface="Nunito"/>
                <a:cs typeface="Nunito"/>
                <a:sym typeface="Nunito"/>
              </a:rPr>
              <a:t>PostgreSQL database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50" name="Google Shape;150;p14"/>
          <p:cNvCxnSpPr>
            <a:stCxn id="146" idx="0"/>
            <a:endCxn id="149" idx="1"/>
          </p:cNvCxnSpPr>
          <p:nvPr/>
        </p:nvCxnSpPr>
        <p:spPr>
          <a:xfrm flipH="1" rot="10800000">
            <a:off x="3347779" y="1628138"/>
            <a:ext cx="757800" cy="854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4"/>
          <p:cNvCxnSpPr>
            <a:endCxn id="137" idx="2"/>
          </p:cNvCxnSpPr>
          <p:nvPr/>
        </p:nvCxnSpPr>
        <p:spPr>
          <a:xfrm>
            <a:off x="5758475" y="2257800"/>
            <a:ext cx="329400" cy="1040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14"/>
          <p:cNvSpPr/>
          <p:nvPr/>
        </p:nvSpPr>
        <p:spPr>
          <a:xfrm>
            <a:off x="2391527" y="2274823"/>
            <a:ext cx="1989300" cy="2759400"/>
          </a:xfrm>
          <a:prstGeom prst="rect">
            <a:avLst/>
          </a:prstGeom>
          <a:noFill/>
          <a:ln cap="flat" cmpd="sng" w="2857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2402843" y="1965988"/>
            <a:ext cx="11625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Data</a:t>
            </a:r>
            <a:endParaRPr b="1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" name="Google Shape;154;p14"/>
          <p:cNvSpPr txBox="1"/>
          <p:nvPr/>
        </p:nvSpPr>
        <p:spPr>
          <a:xfrm>
            <a:off x="439850" y="127352"/>
            <a:ext cx="4253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Architecture diagram</a:t>
            </a:r>
            <a:endParaRPr b="1" sz="3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55" name="Google Shape;155;p14"/>
          <p:cNvCxnSpPr/>
          <p:nvPr/>
        </p:nvCxnSpPr>
        <p:spPr>
          <a:xfrm rot="10800000">
            <a:off x="5886256" y="0"/>
            <a:ext cx="40200" cy="512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56" name="Google Shape;156;p14"/>
          <p:cNvSpPr txBox="1"/>
          <p:nvPr/>
        </p:nvSpPr>
        <p:spPr>
          <a:xfrm>
            <a:off x="5023426" y="4734953"/>
            <a:ext cx="11625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1359850" y="3413250"/>
            <a:ext cx="7644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 txBox="1"/>
          <p:nvPr/>
        </p:nvSpPr>
        <p:spPr>
          <a:xfrm>
            <a:off x="4572400" y="2770250"/>
            <a:ext cx="9945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Transform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6030151" y="4734953"/>
            <a:ext cx="11625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Web App</a:t>
            </a:r>
            <a:endParaRPr b="1"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3433197" y="1396888"/>
            <a:ext cx="9945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b="1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"/>
          <p:cNvSpPr txBox="1"/>
          <p:nvPr>
            <p:ph type="title"/>
          </p:nvPr>
        </p:nvSpPr>
        <p:spPr>
          <a:xfrm>
            <a:off x="5106275" y="152075"/>
            <a:ext cx="34404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Database Structure</a:t>
            </a:r>
            <a:endParaRPr b="1"/>
          </a:p>
        </p:txBody>
      </p:sp>
      <p:sp>
        <p:nvSpPr>
          <p:cNvPr id="166" name="Google Shape;166;p15"/>
          <p:cNvSpPr txBox="1"/>
          <p:nvPr/>
        </p:nvSpPr>
        <p:spPr>
          <a:xfrm>
            <a:off x="257686" y="270773"/>
            <a:ext cx="1943100" cy="2759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members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b="1"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member_id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VARCHAR(8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full_name 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first_name 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last_name 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party CHAR(1),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chamber CHAR(1),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state_name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CHAR(2),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district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years_in_congress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age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2372975" y="334725"/>
            <a:ext cx="1800000" cy="210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bills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b="1"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bill_id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bill_type 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bill_num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congress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chamber CHAR(1),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title 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policy_area 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4568800" y="645475"/>
            <a:ext cx="1886700" cy="2320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votes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b="1"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vote_id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VARCHAR(15),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bill_id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question 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chamber CHAR(1),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congress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session_num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vote_date TIMESTAMPTZ,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result 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5883125" y="3406075"/>
            <a:ext cx="1886700" cy="1443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vote_records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vote_id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VARCHAR(15),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member_id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VARCHAR(8),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position 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b="1"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(vote_id, member_id)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6851300" y="864925"/>
            <a:ext cx="1800000" cy="1881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vote_party_totals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b="1"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vote_id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VARCHAR(15),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party CHAR(1),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yes_count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no_count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present_count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not_voting_count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  <a:endParaRPr b="1"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1620487" y="3287975"/>
            <a:ext cx="1800000" cy="122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bill_sponsorships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b="1"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bill_id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m</a:t>
            </a:r>
            <a:r>
              <a:rPr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ember_id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ponsor_type CHAR(1),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3558537" y="3068675"/>
            <a:ext cx="1800000" cy="166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laws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(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b="1"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law</a:t>
            </a:r>
            <a:r>
              <a:rPr b="1" i="1"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_num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law_type TEXT,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bill_id INT,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</a:t>
            </a: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aw_date TIMESTAMPZ,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   chamber CHAR(1),</a:t>
            </a:r>
            <a:endParaRPr sz="105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);</a:t>
            </a:r>
            <a:endParaRPr/>
          </a:p>
        </p:txBody>
      </p:sp>
      <p:cxnSp>
        <p:nvCxnSpPr>
          <p:cNvPr id="173" name="Google Shape;173;p15"/>
          <p:cNvCxnSpPr>
            <a:stCxn id="167" idx="3"/>
          </p:cNvCxnSpPr>
          <p:nvPr/>
        </p:nvCxnSpPr>
        <p:spPr>
          <a:xfrm flipH="1" rot="10800000">
            <a:off x="4172975" y="1384275"/>
            <a:ext cx="315900" cy="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15"/>
          <p:cNvCxnSpPr>
            <a:endCxn id="171" idx="0"/>
          </p:cNvCxnSpPr>
          <p:nvPr/>
        </p:nvCxnSpPr>
        <p:spPr>
          <a:xfrm flipH="1">
            <a:off x="2520487" y="2433575"/>
            <a:ext cx="8100" cy="85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15"/>
          <p:cNvCxnSpPr/>
          <p:nvPr/>
        </p:nvCxnSpPr>
        <p:spPr>
          <a:xfrm>
            <a:off x="3743937" y="2433575"/>
            <a:ext cx="13500" cy="63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15"/>
          <p:cNvCxnSpPr>
            <a:stCxn id="168" idx="3"/>
            <a:endCxn id="170" idx="1"/>
          </p:cNvCxnSpPr>
          <p:nvPr/>
        </p:nvCxnSpPr>
        <p:spPr>
          <a:xfrm>
            <a:off x="6455500" y="1805725"/>
            <a:ext cx="395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15"/>
          <p:cNvCxnSpPr>
            <a:stCxn id="166" idx="2"/>
          </p:cNvCxnSpPr>
          <p:nvPr/>
        </p:nvCxnSpPr>
        <p:spPr>
          <a:xfrm flipH="1" rot="-5400000">
            <a:off x="2646586" y="1612523"/>
            <a:ext cx="1819200" cy="4653900"/>
          </a:xfrm>
          <a:prstGeom prst="bentConnector2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15"/>
          <p:cNvCxnSpPr/>
          <p:nvPr/>
        </p:nvCxnSpPr>
        <p:spPr>
          <a:xfrm flipH="1">
            <a:off x="5979912" y="2965975"/>
            <a:ext cx="900" cy="416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